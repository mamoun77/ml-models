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 snapToObjects="1">
      <p:cViewPr varScale="1">
        <p:scale>
          <a:sx n="111" d="100"/>
          <a:sy n="111" d="100"/>
        </p:scale>
        <p:origin x="161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kumarajarshi/life-expectancy-who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37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6888" y="1828800"/>
            <a:ext cx="691022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Phase </a:t>
            </a:r>
            <a:r>
              <a:rPr lang="en-US" dirty="0"/>
              <a:t>2</a:t>
            </a:r>
            <a:r>
              <a:rPr dirty="0"/>
              <a:t>: </a:t>
            </a:r>
            <a:r>
              <a:rPr lang="en-US" dirty="0"/>
              <a:t>Regression</a:t>
            </a:r>
            <a:r>
              <a:rPr dirty="0"/>
              <a:t>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994" y="2926080"/>
            <a:ext cx="78620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rPr lang="en-US" dirty="0"/>
              <a:t>Life Expectancy Prediction</a:t>
            </a:r>
            <a:r>
              <a:rPr dirty="0"/>
              <a:t>| ML Group Project (Fall 2025-2026)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2164" y="3840480"/>
            <a:ext cx="65196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Ma’moun Hussam Yosef </a:t>
            </a:r>
            <a:r>
              <a:rPr lang="en-US" dirty="0"/>
              <a:t>–</a:t>
            </a:r>
            <a:r>
              <a:rPr dirty="0"/>
              <a:t> 0233493</a:t>
            </a:r>
            <a:r>
              <a:rPr lang="en-US" dirty="0"/>
              <a:t> (Team Leader) </a:t>
            </a:r>
            <a:endParaRPr dirty="0"/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Ahmad Hani Habab - 2213575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Hazim Majdi Alazab - 0222280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45319" y="274320"/>
            <a:ext cx="52533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Dataset Selection &amp;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908" y="1280160"/>
            <a:ext cx="8197596" cy="472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Dataset: </a:t>
            </a:r>
            <a:r>
              <a:rPr lang="en-US" sz="2000" b="1" dirty="0"/>
              <a:t>Life Expectancy (WHO) </a:t>
            </a:r>
            <a:r>
              <a:rPr dirty="0"/>
              <a:t>Data Set.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sz="1400" dirty="0">
                <a:hlinkClick r:id="rId2"/>
              </a:rPr>
              <a:t>https://www.kaggle.com/datasets/kumarajarshi/life-expectancy-who </a:t>
            </a:r>
            <a:endParaRPr lang="en-US" sz="1400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sz="1400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Target: </a:t>
            </a:r>
            <a:r>
              <a:rPr lang="en-US" sz="2000" dirty="0"/>
              <a:t>Life expectancy</a:t>
            </a:r>
            <a:r>
              <a:rPr dirty="0"/>
              <a:t> </a:t>
            </a:r>
            <a:r>
              <a:rPr lang="en-US" dirty="0"/>
              <a:t>(age)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Features: </a:t>
            </a:r>
            <a:r>
              <a:rPr lang="en-US" dirty="0"/>
              <a:t>21</a:t>
            </a:r>
            <a:r>
              <a:rPr dirty="0"/>
              <a:t> features </a:t>
            </a:r>
            <a:r>
              <a:rPr lang="en-US" dirty="0"/>
              <a:t>including Country</a:t>
            </a:r>
            <a:r>
              <a:rPr dirty="0"/>
              <a:t>,</a:t>
            </a:r>
            <a:r>
              <a:rPr lang="en-US" dirty="0"/>
              <a:t> year, </a:t>
            </a:r>
            <a:r>
              <a:rPr lang="en-US" sz="2000" dirty="0"/>
              <a:t>Alcohol, Population</a:t>
            </a:r>
            <a:r>
              <a:rPr dirty="0"/>
              <a:t> etc</a:t>
            </a:r>
            <a:r>
              <a:rPr lang="en-US"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• Justification for the Choice: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Rich, real-world features → health, economic, and demographic factors enable meaningful prediction.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Continuous target variable → life expectancy is numerical, making it well-suited for regression models.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62475" y="274320"/>
            <a:ext cx="401904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50494"/>
            <a:ext cx="8229600" cy="5550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Data Cleaning: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</a:t>
            </a:r>
            <a:r>
              <a:rPr lang="en-US" dirty="0"/>
              <a:t> </a:t>
            </a:r>
            <a:r>
              <a:rPr dirty="0"/>
              <a:t>- Dropped ‘</a:t>
            </a:r>
            <a:r>
              <a:rPr lang="en-US" dirty="0"/>
              <a:t>status</a:t>
            </a:r>
            <a:r>
              <a:rPr dirty="0"/>
              <a:t>' column.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• - Dropped rows that doesn’t have target value (10 rows)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</a:t>
            </a:r>
            <a:r>
              <a:rPr lang="en-US" dirty="0"/>
              <a:t> </a:t>
            </a:r>
            <a:r>
              <a:rPr dirty="0"/>
              <a:t>- </a:t>
            </a:r>
            <a:r>
              <a:rPr lang="en-US" dirty="0"/>
              <a:t>Encoding </a:t>
            </a:r>
            <a:r>
              <a:rPr dirty="0"/>
              <a:t>:</a:t>
            </a:r>
            <a:r>
              <a:rPr lang="en-US" dirty="0"/>
              <a:t> label encoding for the country column.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</a:t>
            </a:r>
            <a:r>
              <a:rPr lang="en-US" dirty="0"/>
              <a:t>- </a:t>
            </a:r>
            <a:r>
              <a:rPr dirty="0"/>
              <a:t>Splitting: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 </a:t>
            </a:r>
            <a:r>
              <a:rPr dirty="0"/>
              <a:t> </a:t>
            </a:r>
            <a:r>
              <a:rPr lang="en-US" dirty="0"/>
              <a:t>80</a:t>
            </a:r>
            <a:r>
              <a:rPr dirty="0"/>
              <a:t>% Train, </a:t>
            </a:r>
            <a:r>
              <a:rPr lang="en-US" dirty="0"/>
              <a:t>20</a:t>
            </a:r>
            <a:r>
              <a:rPr dirty="0"/>
              <a:t>% Test</a:t>
            </a:r>
            <a:r>
              <a:rPr lang="en-US" dirty="0"/>
              <a:t> for linear regression and </a:t>
            </a:r>
            <a:r>
              <a:rPr lang="en-US" sz="2000" dirty="0"/>
              <a:t>Gradient Boosting regressor</a:t>
            </a:r>
            <a:r>
              <a:rPr dirty="0"/>
              <a:t>.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  70% Train, 15% Validation, 15% Test for the MLP regressor.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Feature Scaling: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- </a:t>
            </a:r>
            <a:r>
              <a:rPr dirty="0" err="1"/>
              <a:t>StandardScaler</a:t>
            </a:r>
            <a:r>
              <a:rPr dirty="0"/>
              <a:t> (Z-score normalization).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74032" y="301752"/>
            <a:ext cx="599593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Baseline: </a:t>
            </a:r>
            <a:r>
              <a:rPr lang="en-US" dirty="0"/>
              <a:t>Linear</a:t>
            </a:r>
            <a:r>
              <a:rPr dirty="0"/>
              <a:t> Regression</a:t>
            </a:r>
            <a:r>
              <a:rPr lang="en-US" dirty="0"/>
              <a:t> Scores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000396"/>
            <a:ext cx="8229600" cy="4575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We used a simple Linear Regression as a baseline mode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</a:t>
            </a:r>
            <a:r>
              <a:rPr lang="en-US" dirty="0"/>
              <a:t>Test</a:t>
            </a:r>
            <a:r>
              <a:rPr dirty="0"/>
              <a:t> Set Results: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Compared to the Benchmarks, the R2 score was </a:t>
            </a:r>
            <a:r>
              <a:rPr lang="en-US" sz="2000" b="1" dirty="0"/>
              <a:t>0.9202.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EFC994-93AA-3BC0-4AC6-0602C003B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926245"/>
              </p:ext>
            </p:extLst>
          </p:nvPr>
        </p:nvGraphicFramePr>
        <p:xfrm>
          <a:off x="457200" y="2501900"/>
          <a:ext cx="4064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69056975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18674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495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7.358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132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893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1.977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81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R2 Score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0.7447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848939"/>
                  </a:ext>
                </a:extLst>
              </a:tr>
            </a:tbl>
          </a:graphicData>
        </a:graphic>
      </p:graphicFrame>
      <p:pic>
        <p:nvPicPr>
          <p:cNvPr id="11" name="Picture 10" descr="A graph with blue dots&#10;&#10;AI-generated content may be incorrect.">
            <a:extLst>
              <a:ext uri="{FF2B5EF4-FFF2-40B4-BE49-F238E27FC236}">
                <a16:creationId xmlns:a16="http://schemas.microsoft.com/office/drawing/2014/main" id="{2BF806BD-823E-9E5F-9E70-A5AFF0931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800" y="1640533"/>
            <a:ext cx="4418103" cy="35769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174167" y="274320"/>
            <a:ext cx="479567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Advanced 1:</a:t>
            </a:r>
            <a:r>
              <a:rPr lang="en-US" dirty="0"/>
              <a:t> MLP regressor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789933"/>
            <a:ext cx="82296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sz="1900" dirty="0"/>
              <a:t>A small neural network with 3 hidden layers with the corresponding number of neurons: [</a:t>
            </a:r>
            <a:r>
              <a:rPr lang="en-US" sz="2000" dirty="0"/>
              <a:t>16, 8, 4]</a:t>
            </a:r>
            <a:endParaRPr lang="en-US" sz="1900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sz="1900" b="1" dirty="0"/>
              <a:t>Hyperparameters</a:t>
            </a:r>
            <a:r>
              <a:rPr lang="en-US" sz="1900" dirty="0"/>
              <a:t>: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- </a:t>
            </a:r>
            <a:r>
              <a:rPr lang="en-US" b="1" dirty="0"/>
              <a:t>Activation Function</a:t>
            </a:r>
            <a:r>
              <a:rPr lang="en-US" dirty="0"/>
              <a:t>: </a:t>
            </a:r>
            <a:r>
              <a:rPr lang="en-US" b="1" dirty="0" err="1"/>
              <a:t>ReLU</a:t>
            </a:r>
            <a:r>
              <a:rPr lang="en-US" dirty="0"/>
              <a:t> for each neuron in the hidden layers.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- </a:t>
            </a:r>
            <a:r>
              <a:rPr lang="en-US" b="1" dirty="0"/>
              <a:t>Optimizer</a:t>
            </a:r>
            <a:r>
              <a:rPr lang="en-US" dirty="0"/>
              <a:t>: </a:t>
            </a:r>
            <a:r>
              <a:rPr lang="en-US" b="1" dirty="0"/>
              <a:t>Adam</a:t>
            </a:r>
            <a:r>
              <a:rPr lang="en-US" dirty="0"/>
              <a:t> optimizer with a </a:t>
            </a:r>
            <a:r>
              <a:rPr lang="en-US" b="1" dirty="0"/>
              <a:t>learning rate </a:t>
            </a:r>
            <a:r>
              <a:rPr lang="en-US" dirty="0"/>
              <a:t>of 0.001.</a:t>
            </a:r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•</a:t>
            </a:r>
            <a:r>
              <a:rPr dirty="0"/>
              <a:t>    -</a:t>
            </a:r>
            <a:r>
              <a:rPr lang="en-US" dirty="0"/>
              <a:t> </a:t>
            </a:r>
            <a:r>
              <a:rPr lang="en-US" b="1" dirty="0" err="1"/>
              <a:t>dropout_rate</a:t>
            </a:r>
            <a:r>
              <a:rPr dirty="0"/>
              <a:t>:</a:t>
            </a:r>
            <a:r>
              <a:rPr b="1" dirty="0"/>
              <a:t> </a:t>
            </a:r>
            <a:r>
              <a:rPr lang="en-US" b="1" dirty="0"/>
              <a:t>0.1</a:t>
            </a:r>
            <a:endParaRPr b="1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   - </a:t>
            </a:r>
            <a:r>
              <a:rPr lang="en-US" sz="2000" dirty="0"/>
              <a:t>number</a:t>
            </a:r>
            <a:r>
              <a:rPr lang="en-US" dirty="0"/>
              <a:t> of </a:t>
            </a:r>
            <a:r>
              <a:rPr lang="en-US" b="1" dirty="0"/>
              <a:t>epochs</a:t>
            </a:r>
            <a:r>
              <a:rPr dirty="0"/>
              <a:t>: </a:t>
            </a:r>
            <a:r>
              <a:rPr lang="en-US" b="1" dirty="0"/>
              <a:t>250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b="1" dirty="0"/>
              <a:t>Results (</a:t>
            </a:r>
            <a:r>
              <a:rPr lang="en-US" b="1" dirty="0" err="1"/>
              <a:t>Testset</a:t>
            </a:r>
            <a:r>
              <a:rPr lang="en-US" b="1" dirty="0"/>
              <a:t>):</a:t>
            </a:r>
            <a:endParaRPr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C4A3873-8774-2A31-05B3-B9A5EE564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862" y="3290978"/>
            <a:ext cx="7375954" cy="3499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7C466A0-D237-A3B1-AC84-FAA50731F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947887"/>
              </p:ext>
            </p:extLst>
          </p:nvPr>
        </p:nvGraphicFramePr>
        <p:xfrm>
          <a:off x="508000" y="4832993"/>
          <a:ext cx="4064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69056975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18674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495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0.1884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132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0.4341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893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R2 Score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0.8185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8489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476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Advanced 1: Hyperparameter Search (</a:t>
            </a:r>
            <a:r>
              <a:rPr lang="en-US" sz="2800" b="1" dirty="0" err="1">
                <a:solidFill>
                  <a:schemeClr val="bg1"/>
                </a:solidFill>
              </a:rPr>
              <a:t>optuna</a:t>
            </a:r>
            <a:r>
              <a:rPr lang="en-US" sz="2800" b="1" dirty="0">
                <a:solidFill>
                  <a:schemeClr val="bg1"/>
                </a:solidFill>
              </a:rPr>
              <a:t>)</a:t>
            </a:r>
            <a:endParaRPr lang="en-US" sz="28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DCFF46-B7A6-1DF4-B939-FEB60CF64E44}"/>
              </a:ext>
            </a:extLst>
          </p:cNvPr>
          <p:cNvSpPr txBox="1"/>
          <p:nvPr/>
        </p:nvSpPr>
        <p:spPr>
          <a:xfrm>
            <a:off x="278892" y="1261872"/>
            <a:ext cx="8833104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Possible parameters to tune: (with </a:t>
            </a:r>
            <a:r>
              <a:rPr lang="en-US" dirty="0"/>
              <a:t>validation loss</a:t>
            </a:r>
            <a:r>
              <a:rPr lang="en-US" sz="2000" dirty="0"/>
              <a:t> as the considered matric)</a:t>
            </a:r>
          </a:p>
          <a:p>
            <a:r>
              <a:rPr lang="en-US" dirty="0"/>
              <a:t>    </a:t>
            </a:r>
            <a:r>
              <a:rPr lang="en-US" b="1" dirty="0" err="1"/>
              <a:t>lr</a:t>
            </a:r>
            <a:r>
              <a:rPr lang="en-US" dirty="0"/>
              <a:t>: [0.0001-0.01]</a:t>
            </a:r>
          </a:p>
          <a:p>
            <a:r>
              <a:rPr lang="en-US" dirty="0"/>
              <a:t>   </a:t>
            </a:r>
            <a:r>
              <a:rPr lang="en-US" b="1" dirty="0"/>
              <a:t> </a:t>
            </a:r>
            <a:r>
              <a:rPr lang="en-US" b="1" dirty="0" err="1"/>
              <a:t>n_hidden_layers</a:t>
            </a:r>
            <a:r>
              <a:rPr lang="en-US" dirty="0"/>
              <a:t>: [2, 3, 4]</a:t>
            </a:r>
          </a:p>
          <a:p>
            <a:r>
              <a:rPr lang="en-US" dirty="0"/>
              <a:t>    </a:t>
            </a:r>
            <a:r>
              <a:rPr lang="en-US" b="1" dirty="0"/>
              <a:t>dropout</a:t>
            </a:r>
            <a:r>
              <a:rPr lang="en-US" dirty="0"/>
              <a:t>: [0.0-0.5] </a:t>
            </a:r>
          </a:p>
          <a:p>
            <a:r>
              <a:rPr lang="en-US" dirty="0"/>
              <a:t>    </a:t>
            </a:r>
            <a:r>
              <a:rPr lang="en-US" b="1" dirty="0" err="1"/>
              <a:t>hidden_sizes</a:t>
            </a:r>
            <a:r>
              <a:rPr lang="en-US" dirty="0"/>
              <a:t>: [4, 6, 8, 10, 12, 14, 16] for each hidden layer</a:t>
            </a:r>
          </a:p>
          <a:p>
            <a:endParaRPr lang="en-US" dirty="0"/>
          </a:p>
          <a:p>
            <a:r>
              <a:rPr lang="en-US" dirty="0"/>
              <a:t>Turns out that the best parameters are </a:t>
            </a:r>
            <a:r>
              <a:rPr lang="en-US" b="1" dirty="0" err="1"/>
              <a:t>lr</a:t>
            </a:r>
            <a:r>
              <a:rPr lang="en-US" b="1" dirty="0"/>
              <a:t> </a:t>
            </a:r>
            <a:r>
              <a:rPr lang="en-US" dirty="0"/>
              <a:t>: 0.0076, </a:t>
            </a:r>
            <a:r>
              <a:rPr lang="en-US" b="1" dirty="0" err="1"/>
              <a:t>n_hidden_layers</a:t>
            </a:r>
            <a:r>
              <a:rPr lang="en-US" b="1" dirty="0"/>
              <a:t> </a:t>
            </a:r>
            <a:r>
              <a:rPr lang="en-US" dirty="0"/>
              <a:t>: 3, </a:t>
            </a:r>
            <a:r>
              <a:rPr lang="en-US" b="1" dirty="0"/>
              <a:t>dropout </a:t>
            </a:r>
            <a:r>
              <a:rPr lang="en-US" dirty="0"/>
              <a:t>: 0.0003, </a:t>
            </a:r>
            <a:r>
              <a:rPr lang="en-US" b="1" dirty="0" err="1"/>
              <a:t>hidden_sizes</a:t>
            </a:r>
            <a:r>
              <a:rPr lang="en-US" b="1" dirty="0"/>
              <a:t> </a:t>
            </a:r>
            <a:r>
              <a:rPr lang="en-US" dirty="0"/>
              <a:t>: [14, 16, 6]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With the Parameters turned the following metrics achieved better results:</a:t>
            </a:r>
          </a:p>
          <a:p>
            <a:r>
              <a:rPr lang="en-US" dirty="0"/>
              <a:t>- </a:t>
            </a:r>
            <a:r>
              <a:rPr lang="en-US" b="1" dirty="0"/>
              <a:t>MSE</a:t>
            </a:r>
            <a:r>
              <a:rPr lang="en-US" dirty="0"/>
              <a:t> decreased from </a:t>
            </a:r>
            <a:r>
              <a:rPr lang="en-US" b="1" dirty="0">
                <a:solidFill>
                  <a:schemeClr val="dk1"/>
                </a:solidFill>
              </a:rPr>
              <a:t>0.1884</a:t>
            </a:r>
            <a:r>
              <a:rPr lang="en-US" b="1" dirty="0"/>
              <a:t> </a:t>
            </a:r>
            <a:r>
              <a:rPr lang="en-US" dirty="0"/>
              <a:t>to</a:t>
            </a:r>
            <a:r>
              <a:rPr lang="en-US" b="1" dirty="0"/>
              <a:t> 0.0815</a:t>
            </a:r>
          </a:p>
          <a:p>
            <a:r>
              <a:rPr lang="en-US" dirty="0"/>
              <a:t>- </a:t>
            </a:r>
            <a:r>
              <a:rPr lang="en-US" b="1" dirty="0"/>
              <a:t>RMSE </a:t>
            </a:r>
            <a:r>
              <a:rPr lang="en-US" dirty="0"/>
              <a:t>decreased from </a:t>
            </a:r>
            <a:r>
              <a:rPr lang="en-US" b="1" dirty="0">
                <a:solidFill>
                  <a:schemeClr val="dk1"/>
                </a:solidFill>
              </a:rPr>
              <a:t>0.4341</a:t>
            </a:r>
            <a:r>
              <a:rPr lang="en-US" b="1" dirty="0"/>
              <a:t> </a:t>
            </a:r>
            <a:r>
              <a:rPr lang="en-US" dirty="0"/>
              <a:t>to </a:t>
            </a:r>
            <a:r>
              <a:rPr lang="en-US" b="1" dirty="0"/>
              <a:t>0.2855</a:t>
            </a:r>
          </a:p>
          <a:p>
            <a:r>
              <a:rPr lang="en-US" dirty="0"/>
              <a:t>-</a:t>
            </a:r>
            <a:r>
              <a:rPr lang="en-US" b="1" dirty="0"/>
              <a:t> R² </a:t>
            </a:r>
            <a:r>
              <a:rPr lang="en-US" dirty="0"/>
              <a:t>increased from </a:t>
            </a:r>
            <a:r>
              <a:rPr lang="en-US" b="1" dirty="0">
                <a:solidFill>
                  <a:schemeClr val="dk1"/>
                </a:solidFill>
              </a:rPr>
              <a:t>0.8185</a:t>
            </a:r>
            <a:r>
              <a:rPr lang="en-US" dirty="0"/>
              <a:t> to </a:t>
            </a:r>
            <a:r>
              <a:rPr lang="en-US" b="1" dirty="0"/>
              <a:t>0.9215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2D176B-E9ED-877E-A3BB-72D653C8475A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B56EB-A471-9A2F-9B86-8549B8AC82FA}"/>
              </a:ext>
            </a:extLst>
          </p:cNvPr>
          <p:cNvSpPr txBox="1"/>
          <p:nvPr/>
        </p:nvSpPr>
        <p:spPr>
          <a:xfrm>
            <a:off x="457200" y="274320"/>
            <a:ext cx="8476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MLP visualization</a:t>
            </a:r>
            <a:r>
              <a:rPr lang="en-US" sz="2800" b="1" dirty="0"/>
              <a:t> </a:t>
            </a:r>
            <a:endParaRPr lang="en-US" sz="2800" b="1" dirty="0">
              <a:solidFill>
                <a:schemeClr val="bg1"/>
              </a:solidFill>
              <a:effectLst/>
            </a:endParaRPr>
          </a:p>
        </p:txBody>
      </p:sp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B404AECD-78B9-7EE3-FA51-DCF18C179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45" y="1199072"/>
            <a:ext cx="8526510" cy="549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902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3BAE39-177F-544E-75D5-D76A52BB784C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74D4E3-D338-F033-93FC-C62AE521D3DA}"/>
              </a:ext>
            </a:extLst>
          </p:cNvPr>
          <p:cNvSpPr txBox="1"/>
          <p:nvPr/>
        </p:nvSpPr>
        <p:spPr>
          <a:xfrm>
            <a:off x="457200" y="274320"/>
            <a:ext cx="8476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Advanced 2: Gradient Boosting Regressor</a:t>
            </a:r>
            <a:endParaRPr lang="en-US" sz="28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72049-A0D4-56D8-E546-D7E49DA49E01}"/>
              </a:ext>
            </a:extLst>
          </p:cNvPr>
          <p:cNvSpPr txBox="1"/>
          <p:nvPr/>
        </p:nvSpPr>
        <p:spPr>
          <a:xfrm>
            <a:off x="250952" y="1186934"/>
            <a:ext cx="8540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Gradient Boosting Regressor achieved the following results (</a:t>
            </a:r>
            <a:r>
              <a:rPr lang="en-US" dirty="0" err="1"/>
              <a:t>Testset</a:t>
            </a:r>
            <a:r>
              <a:rPr lang="en-US" dirty="0"/>
              <a:t>):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980386-8A0A-85F9-FE6B-20FD4D67A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417629"/>
              </p:ext>
            </p:extLst>
          </p:nvPr>
        </p:nvGraphicFramePr>
        <p:xfrm>
          <a:off x="457200" y="1645920"/>
          <a:ext cx="4064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69056975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18674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495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5.560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132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2.358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893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81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R2 Score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0.9409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848939"/>
                  </a:ext>
                </a:extLst>
              </a:tr>
            </a:tbl>
          </a:graphicData>
        </a:graphic>
      </p:graphicFrame>
      <p:pic>
        <p:nvPicPr>
          <p:cNvPr id="6" name="Picture 5" descr="A graph of blue dots&#10;&#10;AI-generated content may be incorrect.">
            <a:extLst>
              <a:ext uri="{FF2B5EF4-FFF2-40B4-BE49-F238E27FC236}">
                <a16:creationId xmlns:a16="http://schemas.microsoft.com/office/drawing/2014/main" id="{E93115A1-06C6-1424-1BDF-D53A4918E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689" y="3637459"/>
            <a:ext cx="3828641" cy="3077795"/>
          </a:xfrm>
          <a:prstGeom prst="rect">
            <a:avLst/>
          </a:prstGeom>
        </p:spPr>
      </p:pic>
      <p:pic>
        <p:nvPicPr>
          <p:cNvPr id="12" name="Picture 11" descr="A graph of blue dots&#10;&#10;AI-generated content may be incorrect.">
            <a:extLst>
              <a:ext uri="{FF2B5EF4-FFF2-40B4-BE49-F238E27FC236}">
                <a16:creationId xmlns:a16="http://schemas.microsoft.com/office/drawing/2014/main" id="{2EA17915-ED31-CB02-74ED-94AD05B6B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37459"/>
            <a:ext cx="3882756" cy="307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716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B9A0A5-3AC6-EA18-03E4-19082131D42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37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ABAEDE-9DEA-E781-7FA5-6740161D9CF7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37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F10E9-06F8-4AC9-DDF2-AE7547AA9D96}"/>
              </a:ext>
            </a:extLst>
          </p:cNvPr>
          <p:cNvSpPr txBox="1"/>
          <p:nvPr/>
        </p:nvSpPr>
        <p:spPr>
          <a:xfrm>
            <a:off x="1842054" y="2150179"/>
            <a:ext cx="545989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sz="3600" dirty="0"/>
              <a:t>Phase </a:t>
            </a:r>
            <a:r>
              <a:rPr lang="en-US" sz="3600" dirty="0"/>
              <a:t>2</a:t>
            </a:r>
            <a:r>
              <a:rPr sz="3600" dirty="0"/>
              <a:t>: </a:t>
            </a:r>
            <a:r>
              <a:rPr lang="en-US" sz="3200" dirty="0"/>
              <a:t>Regression</a:t>
            </a:r>
            <a:r>
              <a:rPr sz="3600" dirty="0"/>
              <a:t>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4A51E4-F9C8-644F-597E-045C21E0BE69}"/>
              </a:ext>
            </a:extLst>
          </p:cNvPr>
          <p:cNvSpPr txBox="1"/>
          <p:nvPr/>
        </p:nvSpPr>
        <p:spPr>
          <a:xfrm>
            <a:off x="1242794" y="2926080"/>
            <a:ext cx="66584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rPr lang="en-US" sz="2000" dirty="0"/>
              <a:t>Life Expectancy Prediction</a:t>
            </a:r>
            <a:r>
              <a:rPr sz="2000" dirty="0"/>
              <a:t>| ML Group Project (Fall 2025-2026)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32CD2F-9C70-95A1-FDF2-DBF19DE7A93B}"/>
              </a:ext>
            </a:extLst>
          </p:cNvPr>
          <p:cNvSpPr txBox="1"/>
          <p:nvPr/>
        </p:nvSpPr>
        <p:spPr>
          <a:xfrm>
            <a:off x="1312164" y="3840480"/>
            <a:ext cx="65196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Ma’moun Hussam Yosef </a:t>
            </a:r>
            <a:r>
              <a:rPr lang="en-US" dirty="0"/>
              <a:t>–</a:t>
            </a:r>
            <a:r>
              <a:rPr dirty="0"/>
              <a:t> 0233493</a:t>
            </a:r>
            <a:r>
              <a:rPr lang="en-US" dirty="0"/>
              <a:t> (Team Leader) </a:t>
            </a:r>
            <a:endParaRPr dirty="0"/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Ahmad Hani Habab - 2213575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Hazim Majdi Alazab - 0222280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C8D99-0CE6-4B90-B7A8-7FB972ADE2EA}"/>
              </a:ext>
            </a:extLst>
          </p:cNvPr>
          <p:cNvSpPr txBox="1"/>
          <p:nvPr/>
        </p:nvSpPr>
        <p:spPr>
          <a:xfrm>
            <a:off x="1880559" y="721147"/>
            <a:ext cx="52276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Thank</a:t>
            </a:r>
            <a:r>
              <a:rPr lang="en-US" sz="4000" b="1" dirty="0">
                <a:solidFill>
                  <a:schemeClr val="bg1"/>
                </a:solidFill>
              </a:rPr>
              <a:t> You</a:t>
            </a:r>
          </a:p>
        </p:txBody>
      </p:sp>
    </p:spTree>
    <p:extLst>
      <p:ext uri="{BB962C8B-B14F-4D97-AF65-F5344CB8AC3E}">
        <p14:creationId xmlns:p14="http://schemas.microsoft.com/office/powerpoint/2010/main" val="1763698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1806</TotalTime>
  <Words>539</Words>
  <Application>Microsoft Office PowerPoint</Application>
  <PresentationFormat>On-screen Show (4:3)</PresentationFormat>
  <Paragraphs>101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MA'MOUN HUSSAM MAHMOUD YOSEF</cp:lastModifiedBy>
  <cp:revision>11</cp:revision>
  <dcterms:created xsi:type="dcterms:W3CDTF">2013-01-27T09:14:16Z</dcterms:created>
  <dcterms:modified xsi:type="dcterms:W3CDTF">2025-12-20T16:59:09Z</dcterms:modified>
  <cp:category/>
</cp:coreProperties>
</file>