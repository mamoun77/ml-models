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/17/breast+cancer+wisconsin+diagnostic" TargetMode="External"/><Relationship Id="rId2" Type="http://schemas.openxmlformats.org/officeDocument/2006/relationships/hyperlink" Target="https://www.kaggle.com/datasets/uciml/breast-cancer-wisconsin-data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spaces/ML-Project-2025-for-dr-ali/breast-cancer-logreg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moun77/ML-Classification-models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037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Phase 1: Classification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Breast Cancer Diagnosis | ML Group Project (Fall 2025-2026)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2164" y="3840480"/>
            <a:ext cx="65196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Ma’moun Hussam Yosef </a:t>
            </a:r>
            <a:r>
              <a:rPr lang="en-US" dirty="0"/>
              <a:t>–</a:t>
            </a:r>
            <a:r>
              <a:rPr dirty="0"/>
              <a:t> 0233493</a:t>
            </a:r>
            <a:r>
              <a:rPr lang="en-US" dirty="0"/>
              <a:t> (Team Leader) </a:t>
            </a:r>
            <a:endParaRPr dirty="0"/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Ahmad Hani Habab - 2213575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/>
              <a:t>Hazim Majdi Alazab - 0222280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45319" y="274320"/>
            <a:ext cx="525336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Dataset Selection &amp;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6908" y="1280160"/>
            <a:ext cx="8197596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Dataset: Breast Cancer Wisconsin (Diagnostic) Data Set.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sz="1400" dirty="0">
                <a:hlinkClick r:id="rId2"/>
              </a:rPr>
              <a:t>https://www.kaggle.com/datasets/uciml/breast-cancer-wisconsin-data</a:t>
            </a:r>
            <a:endParaRPr lang="en-US" sz="1400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sz="1700" dirty="0"/>
              <a:t>With it’s Benchmarks: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sz="1400" dirty="0">
                <a:hlinkClick r:id="rId3"/>
              </a:rPr>
              <a:t>https://archive.ics.uci.edu/dataset/17/breast+cancer+wisconsin+diagnostic</a:t>
            </a:r>
            <a:endParaRPr lang="en-US" sz="1400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Target: Diagnosis (M = Malignant, B = Benign).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Features: 30 computed features (Radius, Texture, Area, etc.) from digitized</a:t>
            </a:r>
            <a:r>
              <a:rPr lang="en-US" dirty="0"/>
              <a:t>  i</a:t>
            </a:r>
            <a:r>
              <a:rPr dirty="0"/>
              <a:t>mages.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Justification for </a:t>
            </a:r>
            <a:r>
              <a:rPr lang="en-US" dirty="0"/>
              <a:t>the </a:t>
            </a:r>
            <a:r>
              <a:rPr dirty="0"/>
              <a:t>Choice: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   - Critical healthcare application where ML can save lives</a:t>
            </a:r>
            <a:r>
              <a:rPr lang="en-US" dirty="0"/>
              <a:t> if an early cancer </a:t>
            </a:r>
            <a:r>
              <a:rPr lang="en-US" sz="2000" dirty="0"/>
              <a:t>	diagnosis were discovered.</a:t>
            </a:r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   - </a:t>
            </a:r>
            <a:r>
              <a:rPr lang="en-US" sz="2000" dirty="0"/>
              <a:t>Well balanced dataset with sufficient samples to train robust models.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   </a:t>
            </a:r>
            <a:r>
              <a:rPr lang="en-US" dirty="0"/>
              <a:t>- </a:t>
            </a:r>
            <a:r>
              <a:rPr lang="en-US" sz="2000" dirty="0"/>
              <a:t>Established benchmark in the ML community, allowing for comparison.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562475" y="274320"/>
            <a:ext cx="401904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60875"/>
            <a:ext cx="8229600" cy="5550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Data Cleaning: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</a:t>
            </a:r>
            <a:r>
              <a:rPr lang="en-US" dirty="0"/>
              <a:t> </a:t>
            </a:r>
            <a:r>
              <a:rPr dirty="0"/>
              <a:t>- Dropped 'id' and empty 'Unnamed: 32' columns.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• - Verified that there is no null or missing values.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Encoding: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</a:t>
            </a:r>
            <a:r>
              <a:rPr lang="en-US" dirty="0"/>
              <a:t> </a:t>
            </a:r>
            <a:r>
              <a:rPr dirty="0"/>
              <a:t>- </a:t>
            </a:r>
            <a:r>
              <a:rPr dirty="0" err="1"/>
              <a:t>LabelEncoder</a:t>
            </a:r>
            <a:r>
              <a:rPr dirty="0"/>
              <a:t>: Malignant (M) → 1, Benign (B) → 0.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</a:t>
            </a:r>
            <a:r>
              <a:rPr lang="en-US" dirty="0"/>
              <a:t>- </a:t>
            </a:r>
            <a:r>
              <a:rPr dirty="0"/>
              <a:t>Stratified Splitting:</a:t>
            </a:r>
            <a:r>
              <a:rPr lang="en-US" dirty="0"/>
              <a:t> </a:t>
            </a:r>
            <a:r>
              <a:rPr dirty="0"/>
              <a:t> </a:t>
            </a:r>
            <a:r>
              <a:rPr lang="en-US" dirty="0"/>
              <a:t>80</a:t>
            </a:r>
            <a:r>
              <a:rPr dirty="0"/>
              <a:t>% Train, </a:t>
            </a:r>
            <a:r>
              <a:rPr lang="en-US" dirty="0"/>
              <a:t>20</a:t>
            </a:r>
            <a:r>
              <a:rPr dirty="0"/>
              <a:t>% Test.</a:t>
            </a: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Feature Scaling: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- </a:t>
            </a:r>
            <a:r>
              <a:rPr dirty="0" err="1"/>
              <a:t>StandardScaler</a:t>
            </a:r>
            <a:r>
              <a:rPr dirty="0"/>
              <a:t> (Z-score normalization).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- Fitted on Train only to avoid data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66534" y="301752"/>
            <a:ext cx="621093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Baseline: Logistic Regression</a:t>
            </a:r>
            <a:r>
              <a:rPr lang="en-US" dirty="0"/>
              <a:t> Scores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886527"/>
            <a:ext cx="8229600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Model Config: Max Iterations = 1000.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dirty="0"/>
              <a:t>• </a:t>
            </a:r>
            <a:r>
              <a:rPr lang="en-US" dirty="0"/>
              <a:t>Test</a:t>
            </a:r>
            <a:r>
              <a:rPr dirty="0"/>
              <a:t> Set Results: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Avg</a:t>
            </a:r>
            <a:r>
              <a:rPr lang="en-US" b="1" dirty="0"/>
              <a:t> F1-Score: 0.9619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Overall </a:t>
            </a:r>
            <a:r>
              <a:rPr lang="en-US" b="1" dirty="0"/>
              <a:t>Accuracy: </a:t>
            </a:r>
            <a:r>
              <a:rPr lang="en-US" sz="2000" b="1" dirty="0"/>
              <a:t>96.491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b="1" dirty="0"/>
              <a:t>AUC-ROC </a:t>
            </a:r>
            <a:r>
              <a:rPr lang="en-US" dirty="0"/>
              <a:t>score</a:t>
            </a:r>
            <a:r>
              <a:rPr lang="en-US" b="1" dirty="0"/>
              <a:t>: 0.996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Compared to the Benchmarks, the Avg Accuracy was </a:t>
            </a:r>
            <a:r>
              <a:rPr lang="en-US" b="1" dirty="0"/>
              <a:t>95.804</a:t>
            </a:r>
            <a:r>
              <a:rPr lang="en-US" dirty="0"/>
              <a:t> and a precision of </a:t>
            </a:r>
            <a:r>
              <a:rPr lang="en-US" b="1" dirty="0"/>
              <a:t>95.503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The running model on </a:t>
            </a:r>
            <a:r>
              <a:rPr lang="en-US" dirty="0" err="1"/>
              <a:t>HuggingFace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https://huggingface.co/spaces/ML-Project-2025-for-dr-ali/breast-cancer-logreg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EFC994-93AA-3BC0-4AC6-0602C003BE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71492"/>
              </p:ext>
            </p:extLst>
          </p:nvPr>
        </p:nvGraphicFramePr>
        <p:xfrm>
          <a:off x="600456" y="2024888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6905697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186740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522886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 0 (Benign)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 1 (Malignant)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495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2132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1893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F1-Score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0.9512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8100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100522" y="274320"/>
            <a:ext cx="494295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rPr dirty="0"/>
              <a:t>Advanced 1: Random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05623"/>
            <a:ext cx="82296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sz="1900" dirty="0"/>
              <a:t>• Approach: Ensemble Learning (Bagging).</a:t>
            </a:r>
            <a:endParaRPr lang="en-US" sz="1900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sz="1900" dirty="0"/>
              <a:t>Hyperparameter:</a:t>
            </a:r>
            <a:endParaRPr sz="1900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sz="1900" dirty="0"/>
              <a:t>•</a:t>
            </a:r>
            <a:r>
              <a:rPr sz="1900" dirty="0"/>
              <a:t>    - </a:t>
            </a:r>
            <a:r>
              <a:rPr sz="1900" dirty="0" err="1"/>
              <a:t>n_estimators</a:t>
            </a:r>
            <a:r>
              <a:rPr sz="1900" dirty="0"/>
              <a:t>: </a:t>
            </a:r>
            <a:r>
              <a:rPr lang="en-US" sz="1900" dirty="0"/>
              <a:t>30 (number of trees)</a:t>
            </a:r>
            <a:endParaRPr sz="1900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sz="1900" dirty="0"/>
              <a:t>•    - </a:t>
            </a:r>
            <a:r>
              <a:rPr sz="1900" dirty="0" err="1"/>
              <a:t>max_depth</a:t>
            </a:r>
            <a:r>
              <a:rPr sz="1900" dirty="0"/>
              <a:t>: </a:t>
            </a:r>
            <a:r>
              <a:rPr lang="en-US" sz="1900" dirty="0"/>
              <a:t>4 (to prevent overfitting)</a:t>
            </a:r>
            <a:endParaRPr sz="1900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sz="1900" dirty="0"/>
              <a:t>• Results (Test Set):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sz="2000" dirty="0"/>
              <a:t>Avg</a:t>
            </a:r>
            <a:r>
              <a:rPr lang="en-US" sz="2000" b="1" dirty="0"/>
              <a:t> F1-Score: 0.9521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sz="2000" dirty="0"/>
              <a:t>Overall </a:t>
            </a:r>
            <a:r>
              <a:rPr lang="en-US" sz="2000" b="1" dirty="0"/>
              <a:t>Accuracy: 95.61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sz="2000" b="1" dirty="0"/>
              <a:t>AUC-ROC </a:t>
            </a:r>
            <a:r>
              <a:rPr lang="en-US" sz="2000" dirty="0"/>
              <a:t>score</a:t>
            </a:r>
            <a:r>
              <a:rPr lang="en-US" sz="2000" b="1" dirty="0"/>
              <a:t>: 0.992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Compared to the Benchmarks, the Avg Accuracy was </a:t>
            </a:r>
            <a:r>
              <a:rPr lang="en-US" b="1" dirty="0"/>
              <a:t>97.902</a:t>
            </a:r>
            <a:r>
              <a:rPr lang="en-US" dirty="0"/>
              <a:t> and a precision of </a:t>
            </a:r>
            <a:r>
              <a:rPr lang="en-US" b="1" dirty="0"/>
              <a:t>97.940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DE0D92-5BCF-ABED-C806-13273AE629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644606"/>
              </p:ext>
            </p:extLst>
          </p:nvPr>
        </p:nvGraphicFramePr>
        <p:xfrm>
          <a:off x="3691128" y="3470808"/>
          <a:ext cx="545287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7624">
                  <a:extLst>
                    <a:ext uri="{9D8B030D-6E8A-4147-A177-3AD203B41FA5}">
                      <a16:colId xmlns:a16="http://schemas.microsoft.com/office/drawing/2014/main" val="1548897303"/>
                    </a:ext>
                  </a:extLst>
                </a:gridCol>
                <a:gridCol w="1817624">
                  <a:extLst>
                    <a:ext uri="{9D8B030D-6E8A-4147-A177-3AD203B41FA5}">
                      <a16:colId xmlns:a16="http://schemas.microsoft.com/office/drawing/2014/main" val="435931328"/>
                    </a:ext>
                  </a:extLst>
                </a:gridCol>
                <a:gridCol w="1817624">
                  <a:extLst>
                    <a:ext uri="{9D8B030D-6E8A-4147-A177-3AD203B41FA5}">
                      <a16:colId xmlns:a16="http://schemas.microsoft.com/office/drawing/2014/main" val="849147051"/>
                    </a:ext>
                  </a:extLst>
                </a:gridCol>
              </a:tblGrid>
              <a:tr h="339344">
                <a:tc>
                  <a:txBody>
                    <a:bodyPr/>
                    <a:lstStyle/>
                    <a:p>
                      <a:r>
                        <a:rPr lang="en-US" dirty="0"/>
                        <a:t>Matric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Class 0 (Benign)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Class 1 (Malignant)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594225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430472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0.986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142735"/>
                  </a:ext>
                </a:extLst>
              </a:tr>
              <a:tr h="3393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F1-Score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0.9659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0.9382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2913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476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Advanced 1: Hyperparameter Tuning (</a:t>
            </a:r>
            <a:r>
              <a:rPr lang="en-US" sz="2800" b="1" dirty="0" err="1">
                <a:solidFill>
                  <a:schemeClr val="bg1"/>
                </a:solidFill>
              </a:rPr>
              <a:t>GridSearchCV</a:t>
            </a:r>
            <a:r>
              <a:rPr lang="en-US" sz="2800" b="1" dirty="0">
                <a:solidFill>
                  <a:schemeClr val="bg1"/>
                </a:solidFill>
              </a:rPr>
              <a:t>)</a:t>
            </a:r>
            <a:endParaRPr lang="en-US" sz="28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DCFF46-B7A6-1DF4-B939-FEB60CF64E44}"/>
              </a:ext>
            </a:extLst>
          </p:cNvPr>
          <p:cNvSpPr txBox="1"/>
          <p:nvPr/>
        </p:nvSpPr>
        <p:spPr>
          <a:xfrm>
            <a:off x="278892" y="1261872"/>
            <a:ext cx="88331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Possible parameters to tune: (with F1-score as the considered matric)</a:t>
            </a:r>
          </a:p>
          <a:p>
            <a:r>
              <a:rPr lang="en-US" dirty="0"/>
              <a:t>    </a:t>
            </a:r>
            <a:r>
              <a:rPr lang="en-US" b="1" dirty="0" err="1"/>
              <a:t>n_estimators</a:t>
            </a:r>
            <a:r>
              <a:rPr lang="en-US" dirty="0"/>
              <a:t>: [100, 200, 300]</a:t>
            </a:r>
          </a:p>
          <a:p>
            <a:r>
              <a:rPr lang="en-US" dirty="0"/>
              <a:t>    </a:t>
            </a:r>
            <a:r>
              <a:rPr lang="en-US" b="1" dirty="0" err="1"/>
              <a:t>max_depth</a:t>
            </a:r>
            <a:r>
              <a:rPr lang="en-US" dirty="0"/>
              <a:t>: [None, 5, 10]</a:t>
            </a:r>
          </a:p>
          <a:p>
            <a:r>
              <a:rPr lang="en-US" dirty="0"/>
              <a:t>    </a:t>
            </a:r>
            <a:r>
              <a:rPr lang="en-US" b="1" dirty="0" err="1"/>
              <a:t>min_samples_split</a:t>
            </a:r>
            <a:r>
              <a:rPr lang="en-US" dirty="0"/>
              <a:t>: [2, 5] </a:t>
            </a:r>
            <a:r>
              <a:rPr lang="en-US" sz="1600" dirty="0"/>
              <a:t>(controls how many samples are needed before a node can split)</a:t>
            </a:r>
          </a:p>
          <a:p>
            <a:r>
              <a:rPr lang="en-US" dirty="0"/>
              <a:t>    </a:t>
            </a:r>
            <a:r>
              <a:rPr lang="en-US" b="1" dirty="0" err="1"/>
              <a:t>min_samples_leaf</a:t>
            </a:r>
            <a:r>
              <a:rPr lang="en-US" dirty="0"/>
              <a:t>: [1, 2] </a:t>
            </a:r>
            <a:r>
              <a:rPr lang="en-US" sz="1600" dirty="0"/>
              <a:t>(controls how many samples a final leaf must have)</a:t>
            </a:r>
          </a:p>
          <a:p>
            <a:endParaRPr lang="en-US" dirty="0"/>
          </a:p>
          <a:p>
            <a:r>
              <a:rPr lang="en-US" dirty="0"/>
              <a:t>Turns out that the best parameters are </a:t>
            </a:r>
            <a:r>
              <a:rPr lang="en-US" b="1" dirty="0" err="1"/>
              <a:t>max_depth</a:t>
            </a:r>
            <a:r>
              <a:rPr lang="en-US" dirty="0"/>
              <a:t>: None, </a:t>
            </a:r>
            <a:r>
              <a:rPr lang="en-US" b="1" dirty="0" err="1"/>
              <a:t>min_samples_leaf</a:t>
            </a:r>
            <a:r>
              <a:rPr lang="en-US" dirty="0"/>
              <a:t>: 1, </a:t>
            </a:r>
            <a:r>
              <a:rPr lang="en-US" b="1" dirty="0" err="1"/>
              <a:t>min_samples_split</a:t>
            </a:r>
            <a:r>
              <a:rPr lang="en-US" dirty="0"/>
              <a:t>: 2, </a:t>
            </a:r>
            <a:r>
              <a:rPr lang="en-US" b="1" dirty="0" err="1"/>
              <a:t>n_estimators</a:t>
            </a:r>
            <a:r>
              <a:rPr lang="en-US" dirty="0"/>
              <a:t>: 100}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With the Parameters turned the following scores increased:</a:t>
            </a:r>
          </a:p>
          <a:p>
            <a:r>
              <a:rPr lang="en-US" dirty="0"/>
              <a:t>- </a:t>
            </a:r>
            <a:r>
              <a:rPr lang="en-US" b="1" dirty="0"/>
              <a:t>Accuracy</a:t>
            </a:r>
            <a:r>
              <a:rPr lang="en-US" dirty="0"/>
              <a:t> increased from </a:t>
            </a:r>
            <a:r>
              <a:rPr lang="en-US" b="1" dirty="0"/>
              <a:t>95.61 </a:t>
            </a:r>
            <a:r>
              <a:rPr lang="en-US" dirty="0"/>
              <a:t>to</a:t>
            </a:r>
            <a:r>
              <a:rPr lang="en-US" b="1" dirty="0"/>
              <a:t> 97.36</a:t>
            </a:r>
          </a:p>
          <a:p>
            <a:r>
              <a:rPr lang="en-US" dirty="0"/>
              <a:t>- Avg</a:t>
            </a:r>
            <a:r>
              <a:rPr lang="en-US" b="1" dirty="0"/>
              <a:t> F1-Score </a:t>
            </a:r>
            <a:r>
              <a:rPr lang="en-US" dirty="0"/>
              <a:t>increased from </a:t>
            </a:r>
            <a:r>
              <a:rPr lang="en-US" b="1" dirty="0"/>
              <a:t>0.9521 </a:t>
            </a:r>
            <a:r>
              <a:rPr lang="en-US" dirty="0"/>
              <a:t>to </a:t>
            </a:r>
            <a:r>
              <a:rPr lang="en-US" b="1" dirty="0"/>
              <a:t>0.9712</a:t>
            </a:r>
          </a:p>
          <a:p>
            <a:r>
              <a:rPr lang="en-US" b="1" dirty="0"/>
              <a:t>- AUC-ROC </a:t>
            </a:r>
            <a:r>
              <a:rPr lang="en-US" dirty="0"/>
              <a:t>increased from </a:t>
            </a:r>
            <a:r>
              <a:rPr lang="en-US" b="1" dirty="0"/>
              <a:t>0.992</a:t>
            </a:r>
            <a:r>
              <a:rPr lang="en-US" dirty="0"/>
              <a:t> to </a:t>
            </a:r>
            <a:r>
              <a:rPr lang="en-US" b="1" dirty="0"/>
              <a:t>0.993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2D176B-E9ED-877E-A3BB-72D653C8475A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B56EB-A471-9A2F-9B86-8549B8AC82FA}"/>
              </a:ext>
            </a:extLst>
          </p:cNvPr>
          <p:cNvSpPr txBox="1"/>
          <p:nvPr/>
        </p:nvSpPr>
        <p:spPr>
          <a:xfrm>
            <a:off x="457200" y="274320"/>
            <a:ext cx="8476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Random Forest visualization</a:t>
            </a:r>
            <a:r>
              <a:rPr lang="en-US" sz="2800" b="1" dirty="0"/>
              <a:t> </a:t>
            </a:r>
            <a:endParaRPr lang="en-US" sz="2800" b="1" dirty="0">
              <a:solidFill>
                <a:schemeClr val="bg1"/>
              </a:solidFill>
              <a:effectLst/>
            </a:endParaRPr>
          </a:p>
        </p:txBody>
      </p:sp>
      <p:pic>
        <p:nvPicPr>
          <p:cNvPr id="5" name="Picture 4" descr="ROC Curve">
            <a:extLst>
              <a:ext uri="{FF2B5EF4-FFF2-40B4-BE49-F238E27FC236}">
                <a16:creationId xmlns:a16="http://schemas.microsoft.com/office/drawing/2014/main" id="{B7231E4F-9B4F-C6B2-1B93-34E12DADF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3256"/>
            <a:ext cx="4416552" cy="3856242"/>
          </a:xfrm>
          <a:prstGeom prst="rect">
            <a:avLst/>
          </a:prstGeom>
        </p:spPr>
      </p:pic>
      <p:pic>
        <p:nvPicPr>
          <p:cNvPr id="7" name="Picture 6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93C64F34-89A3-79CB-E81D-8E050534E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3075" y="1516333"/>
            <a:ext cx="4530613" cy="419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902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03BAE39-177F-544E-75D5-D76A52BB784C}"/>
              </a:ext>
            </a:extLst>
          </p:cNvPr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74D4E3-D338-F033-93FC-C62AE521D3DA}"/>
              </a:ext>
            </a:extLst>
          </p:cNvPr>
          <p:cNvSpPr txBox="1"/>
          <p:nvPr/>
        </p:nvSpPr>
        <p:spPr>
          <a:xfrm>
            <a:off x="457200" y="274320"/>
            <a:ext cx="84764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Advanced 2: Support Vector Machine</a:t>
            </a:r>
            <a:endParaRPr lang="en-US" sz="28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272049-A0D4-56D8-E546-D7E49DA49E01}"/>
              </a:ext>
            </a:extLst>
          </p:cNvPr>
          <p:cNvSpPr txBox="1"/>
          <p:nvPr/>
        </p:nvSpPr>
        <p:spPr>
          <a:xfrm>
            <a:off x="320040" y="1234440"/>
            <a:ext cx="8540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tried different types of </a:t>
            </a:r>
            <a:r>
              <a:rPr lang="en-US" b="1" dirty="0"/>
              <a:t>SVM</a:t>
            </a:r>
            <a:r>
              <a:rPr lang="en-US" dirty="0"/>
              <a:t> </a:t>
            </a:r>
            <a:r>
              <a:rPr lang="en-US" dirty="0" err="1"/>
              <a:t>karnels</a:t>
            </a:r>
            <a:r>
              <a:rPr lang="en-US" dirty="0"/>
              <a:t> (linear, poly, </a:t>
            </a:r>
            <a:r>
              <a:rPr lang="en-US" dirty="0" err="1"/>
              <a:t>rbf</a:t>
            </a:r>
            <a:r>
              <a:rPr lang="en-US" dirty="0"/>
              <a:t>), turns out that for the default hyperparameters the </a:t>
            </a:r>
            <a:r>
              <a:rPr lang="en-US" b="1" dirty="0"/>
              <a:t>RBF</a:t>
            </a:r>
            <a:r>
              <a:rPr lang="en-US" dirty="0"/>
              <a:t> model scored the highest (The RBF model is good at separating non-linear patterns).</a:t>
            </a:r>
          </a:p>
        </p:txBody>
      </p:sp>
      <p:pic>
        <p:nvPicPr>
          <p:cNvPr id="9" name="Picture 8" descr="A diagram of a confusion matrix&#10;&#10;AI-generated content may be incorrect.">
            <a:extLst>
              <a:ext uri="{FF2B5EF4-FFF2-40B4-BE49-F238E27FC236}">
                <a16:creationId xmlns:a16="http://schemas.microsoft.com/office/drawing/2014/main" id="{1A27139D-4375-29E7-8890-05C544810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550" y="2157770"/>
            <a:ext cx="2583138" cy="2222206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46A00F-3B04-F45B-3B58-EA1321DEFD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806696"/>
              </p:ext>
            </p:extLst>
          </p:nvPr>
        </p:nvGraphicFramePr>
        <p:xfrm>
          <a:off x="210312" y="2439416"/>
          <a:ext cx="5943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168802986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845452779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1154207823"/>
                    </a:ext>
                  </a:extLst>
                </a:gridCol>
              </a:tblGrid>
              <a:tr h="341122">
                <a:tc>
                  <a:txBody>
                    <a:bodyPr/>
                    <a:lstStyle/>
                    <a:p>
                      <a:r>
                        <a:rPr lang="en-US" dirty="0"/>
                        <a:t>Matric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Class 0 (Benign)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Class 1 (Malignant)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335083"/>
                  </a:ext>
                </a:extLst>
              </a:tr>
              <a:tr h="341122"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216361"/>
                  </a:ext>
                </a:extLst>
              </a:tr>
              <a:tr h="341122"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461485"/>
                  </a:ext>
                </a:extLst>
              </a:tr>
              <a:tr h="3411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F1-Score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0.9795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0.9629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99071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5BA5F7C-864E-BCFB-07B6-7C6B867B3734}"/>
              </a:ext>
            </a:extLst>
          </p:cNvPr>
          <p:cNvSpPr txBox="1"/>
          <p:nvPr/>
        </p:nvSpPr>
        <p:spPr>
          <a:xfrm>
            <a:off x="320040" y="4005072"/>
            <a:ext cx="861364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Avg</a:t>
            </a:r>
            <a:r>
              <a:rPr lang="en-US" b="1" dirty="0"/>
              <a:t> F1-Score: </a:t>
            </a:r>
            <a:r>
              <a:rPr lang="en-US" sz="2000" b="1" dirty="0"/>
              <a:t>0.9712</a:t>
            </a:r>
            <a:endParaRPr lang="en-US" b="1" dirty="0"/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Overall </a:t>
            </a:r>
            <a:r>
              <a:rPr lang="en-US" b="1" dirty="0"/>
              <a:t>Accuracy: </a:t>
            </a:r>
            <a:r>
              <a:rPr lang="en-US" sz="2000" b="1" dirty="0"/>
              <a:t>97.368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b="1" dirty="0"/>
              <a:t>AUC-ROC </a:t>
            </a:r>
            <a:r>
              <a:rPr lang="en-US" dirty="0"/>
              <a:t>score</a:t>
            </a:r>
            <a:r>
              <a:rPr lang="en-US" b="1" dirty="0"/>
              <a:t>: 0.992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Compared to the Benchmarks, the Avg Accuracy was </a:t>
            </a:r>
            <a:r>
              <a:rPr lang="en-US" b="1" dirty="0"/>
              <a:t>94.406</a:t>
            </a:r>
            <a:r>
              <a:rPr lang="en-US" dirty="0"/>
              <a:t> and a precision of </a:t>
            </a:r>
            <a:r>
              <a:rPr lang="en-US" b="1" dirty="0"/>
              <a:t>94.768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1716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0565" y="274320"/>
            <a:ext cx="908287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Advanced 2: Hyperparameter Tuning (</a:t>
            </a:r>
            <a:r>
              <a:rPr lang="en-US" sz="3200" b="1" dirty="0" err="1">
                <a:solidFill>
                  <a:schemeClr val="bg1"/>
                </a:solidFill>
              </a:rPr>
              <a:t>GridSearchCV</a:t>
            </a:r>
            <a:r>
              <a:rPr lang="en-US" sz="32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n-US" dirty="0"/>
              <a:t>Possible parameters to tune: (with F1-score as the considered matric)</a:t>
            </a:r>
          </a:p>
          <a:p>
            <a:r>
              <a:rPr lang="en-US" dirty="0"/>
              <a:t>    </a:t>
            </a:r>
            <a:r>
              <a:rPr lang="en-US" b="1" dirty="0"/>
              <a:t>C </a:t>
            </a:r>
            <a:r>
              <a:rPr lang="en-US" dirty="0"/>
              <a:t>: [0.1, 1, 10]  </a:t>
            </a:r>
            <a:r>
              <a:rPr lang="en-US" sz="1600" dirty="0"/>
              <a:t>(controls how much you penalize misclassifications)</a:t>
            </a:r>
          </a:p>
          <a:p>
            <a:r>
              <a:rPr lang="en-US" dirty="0"/>
              <a:t>    </a:t>
            </a:r>
            <a:r>
              <a:rPr lang="en-US" b="1" dirty="0"/>
              <a:t>gemma</a:t>
            </a:r>
            <a:r>
              <a:rPr lang="en-US" dirty="0"/>
              <a:t>: [0.001, 0.01, 0.1] </a:t>
            </a:r>
            <a:r>
              <a:rPr lang="en-US" sz="1400" dirty="0"/>
              <a:t> (controls how far each training point influences the decision boundary)</a:t>
            </a:r>
          </a:p>
          <a:p>
            <a:r>
              <a:rPr lang="en-US" dirty="0"/>
              <a:t>    </a:t>
            </a:r>
            <a:r>
              <a:rPr lang="en-US" b="1" dirty="0"/>
              <a:t>Karnel</a:t>
            </a:r>
            <a:r>
              <a:rPr lang="en-US" dirty="0"/>
              <a:t>: [linear, </a:t>
            </a:r>
            <a:r>
              <a:rPr lang="en-US" dirty="0" err="1"/>
              <a:t>rbf</a:t>
            </a:r>
            <a:r>
              <a:rPr lang="en-US" dirty="0"/>
              <a:t>, poly]</a:t>
            </a:r>
          </a:p>
          <a:p>
            <a:endParaRPr lang="en-US" dirty="0"/>
          </a:p>
          <a:p>
            <a:r>
              <a:rPr lang="en-US" dirty="0"/>
              <a:t>Turns out that the best parameters are </a:t>
            </a:r>
            <a:r>
              <a:rPr lang="en-US" b="1" dirty="0"/>
              <a:t>C</a:t>
            </a:r>
            <a:r>
              <a:rPr lang="en-US" dirty="0"/>
              <a:t>: 10, </a:t>
            </a:r>
            <a:r>
              <a:rPr lang="en-US" b="1" dirty="0"/>
              <a:t>gemma</a:t>
            </a:r>
            <a:r>
              <a:rPr lang="en-US" dirty="0"/>
              <a:t>: 0.01, </a:t>
            </a:r>
            <a:r>
              <a:rPr lang="en-US" b="1" dirty="0"/>
              <a:t>Karnel</a:t>
            </a:r>
            <a:r>
              <a:rPr lang="en-US" dirty="0"/>
              <a:t>: </a:t>
            </a:r>
            <a:r>
              <a:rPr lang="en-US" dirty="0" err="1"/>
              <a:t>rbf</a:t>
            </a:r>
            <a:endParaRPr lang="en-US" dirty="0"/>
          </a:p>
          <a:p>
            <a:endParaRPr lang="en-US" dirty="0"/>
          </a:p>
          <a:p>
            <a:r>
              <a:rPr lang="en-US" dirty="0"/>
              <a:t>With the Parameters turned the following scores increased:</a:t>
            </a:r>
          </a:p>
          <a:p>
            <a:r>
              <a:rPr lang="en-US" dirty="0"/>
              <a:t>- </a:t>
            </a:r>
            <a:r>
              <a:rPr lang="en-US" b="1" dirty="0"/>
              <a:t>Accuracy</a:t>
            </a:r>
            <a:r>
              <a:rPr lang="en-US" dirty="0"/>
              <a:t> increased from </a:t>
            </a:r>
            <a:r>
              <a:rPr lang="en-US" b="1" dirty="0"/>
              <a:t>97.368 </a:t>
            </a:r>
            <a:r>
              <a:rPr lang="en-US" dirty="0"/>
              <a:t>to</a:t>
            </a:r>
            <a:r>
              <a:rPr lang="en-US" b="1" dirty="0"/>
              <a:t> 98.246</a:t>
            </a:r>
          </a:p>
          <a:p>
            <a:r>
              <a:rPr lang="en-US" dirty="0"/>
              <a:t>- Avg</a:t>
            </a:r>
            <a:r>
              <a:rPr lang="en-US" b="1" dirty="0"/>
              <a:t> F1-Score </a:t>
            </a:r>
            <a:r>
              <a:rPr lang="en-US" dirty="0"/>
              <a:t>increased from </a:t>
            </a:r>
            <a:r>
              <a:rPr lang="en-US" b="1" dirty="0"/>
              <a:t>0.9712 </a:t>
            </a:r>
            <a:r>
              <a:rPr lang="en-US" dirty="0"/>
              <a:t>to </a:t>
            </a:r>
            <a:r>
              <a:rPr lang="en-US" b="1" dirty="0"/>
              <a:t>0.9809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AUC-ROC </a:t>
            </a:r>
            <a:r>
              <a:rPr lang="en-US" dirty="0"/>
              <a:t>increased from </a:t>
            </a:r>
            <a:r>
              <a:rPr lang="en-US" b="1" dirty="0"/>
              <a:t>0.992</a:t>
            </a:r>
            <a:r>
              <a:rPr lang="en-US" dirty="0"/>
              <a:t> to </a:t>
            </a:r>
            <a:r>
              <a:rPr lang="en-US" b="1" dirty="0"/>
              <a:t>0.996</a:t>
            </a:r>
          </a:p>
          <a:p>
            <a:pPr marL="285750" indent="-285750">
              <a:buFontTx/>
              <a:buChar char="-"/>
            </a:pPr>
            <a:endParaRPr lang="en-US" b="1" dirty="0"/>
          </a:p>
          <a:p>
            <a:r>
              <a:rPr lang="en-US" dirty="0"/>
              <a:t>These Findings show that Tuning hyperparameters is crucial because the right settings can significantly boost a model’s performance, as shown by the jump in accuracy, F1-score, and AUC-ROC after optimizing both the SVM and Random Forest parameters.</a:t>
            </a:r>
            <a:endParaRPr lang="en-US" b="1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433" y="274320"/>
            <a:ext cx="74071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Benchmarks Accuracy for different Models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1D2BD1F2-FFDD-CE99-EA63-BAF455DD6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49" y="1486662"/>
            <a:ext cx="857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0375C"/>
          </a:solidFill>
          <a:ln>
            <a:solidFill>
              <a:srgbClr val="103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Comparative Analysis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657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lang="en-US" b="1" dirty="0"/>
              <a:t>Conclusion &amp; Key Insights: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models performed well on the breast cancer classification task.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Hyperparameter tuning improved results significantly.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tuned </a:t>
            </a:r>
            <a:r>
              <a:rPr lang="en-US" b="1" dirty="0"/>
              <a:t>SVM (RBF)</a:t>
            </a:r>
            <a:r>
              <a:rPr lang="en-US" dirty="0"/>
              <a:t> achieved the </a:t>
            </a:r>
            <a:r>
              <a:rPr lang="en-US" b="1" dirty="0"/>
              <a:t>best overall accuracy and F1-score</a:t>
            </a:r>
            <a:r>
              <a:rPr lang="en-US" dirty="0"/>
              <a:t>.</a:t>
            </a:r>
          </a:p>
          <a:p>
            <a:pPr marL="342900" indent="-342900">
              <a:spcAft>
                <a:spcPts val="1400"/>
              </a:spcAft>
              <a:buFont typeface="Arial" panose="020B0604020202020204" pitchFamily="34" charset="0"/>
              <a:buChar char="•"/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• Final Recommendation: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• The Tuned </a:t>
            </a:r>
            <a:r>
              <a:rPr lang="en-US" b="1" dirty="0"/>
              <a:t>SVM</a:t>
            </a:r>
            <a:r>
              <a:rPr lang="en-US" dirty="0"/>
              <a:t> Model is recommended for deployment due to high Recall (minimizing dangerous false negatives).</a:t>
            </a:r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endParaRPr lang="en-US" dirty="0"/>
          </a:p>
          <a:p>
            <a:pPr>
              <a:spcAft>
                <a:spcPts val="1400"/>
              </a:spcAft>
              <a:defRPr sz="2000">
                <a:solidFill>
                  <a:srgbClr val="323232"/>
                </a:solidFill>
                <a:latin typeface="Calibri Light"/>
              </a:defRPr>
            </a:pPr>
            <a:r>
              <a:rPr lang="en-US" dirty="0"/>
              <a:t>The source code on </a:t>
            </a:r>
            <a:r>
              <a:rPr lang="en-US" dirty="0" err="1"/>
              <a:t>Github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https://github.com/Mamoun77/ML-Classification-models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1694</TotalTime>
  <Words>932</Words>
  <Application>Microsoft Office PowerPoint</Application>
  <PresentationFormat>On-screen Show (4:3)</PresentationFormat>
  <Paragraphs>138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MA'MOUN HUSSAM MAHMOUD YOSEF</cp:lastModifiedBy>
  <cp:revision>8</cp:revision>
  <dcterms:created xsi:type="dcterms:W3CDTF">2013-01-27T09:14:16Z</dcterms:created>
  <dcterms:modified xsi:type="dcterms:W3CDTF">2025-12-07T11:14:18Z</dcterms:modified>
  <cp:category/>
</cp:coreProperties>
</file>